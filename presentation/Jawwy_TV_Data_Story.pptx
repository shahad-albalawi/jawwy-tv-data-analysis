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F00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JAWWY TV   ·   DATA STORY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42316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Jawwy TV Viewership Data Analysis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million viewing records reveal how users engage — and where the platform can grow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stc Data Analyst Virtual Experience   ·   in partnership with the Misk Foundation</a:t>
            </a:r>
            <a:endParaRPr lang="en-US" sz="1300" dirty="0"/>
          </a:p>
        </p:txBody>
      </p:sp>
      <p:pic>
        <p:nvPicPr>
          <p:cNvPr id="6" name="Image 0" descr="/home/claude/redesign/charts/../logos/st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38912"/>
            <a:ext cx="749808" cy="365760"/>
          </a:xfrm>
          <a:prstGeom prst="rect">
            <a:avLst/>
          </a:prstGeom>
        </p:spPr>
      </p:pic>
      <p:pic>
        <p:nvPicPr>
          <p:cNvPr id="7" name="Image 1" descr="/home/claude/redesign/charts/../logos/misk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365760"/>
            <a:ext cx="886968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91272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JAWWY TV   ·   DATA 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08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Datasets, One 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5159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datasets from the Jawwy TV platform (March 2017 – April 2018), each addressing a distinct analytical objective.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483864" cy="3749040"/>
          </a:xfrm>
          <a:prstGeom prst="roundRect">
            <a:avLst>
              <a:gd name="adj" fmla="val 21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9456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9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2935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Detailed Interaction Data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29352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5468"/>
                </a:solidFill>
              </a:rPr>
              <a:t>1,048,575 viewing records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5468"/>
                </a:solidFill>
              </a:rPr>
              <a:t>13 columns including duration, HD quality, and genre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4400" y="4846320"/>
            <a:ext cx="2935224" cy="0"/>
          </a:xfrm>
          <a:prstGeom prst="line">
            <a:avLst/>
          </a:prstGeom>
          <a:noFill/>
          <a:ln w="9525">
            <a:solidFill>
              <a:srgbClr val="C9AE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965192"/>
            <a:ext cx="2935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5212080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viewing behavior and playback quality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52544" y="1965960"/>
            <a:ext cx="3483864" cy="3749040"/>
          </a:xfrm>
          <a:prstGeom prst="roundRect">
            <a:avLst>
              <a:gd name="adj" fmla="val 21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219456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9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4626864" y="3017520"/>
            <a:ext cx="2935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Daily Time Series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26864" y="3749040"/>
            <a:ext cx="29352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5468"/>
                </a:solidFill>
              </a:rPr>
              <a:t>86 business days (Jan – Apr 2018)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5468"/>
                </a:solidFill>
              </a:rPr>
              <a:t>Total watch hours per day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26864" y="4846320"/>
            <a:ext cx="2935224" cy="0"/>
          </a:xfrm>
          <a:prstGeom prst="line">
            <a:avLst/>
          </a:prstGeom>
          <a:noFill/>
          <a:ln w="9525">
            <a:solidFill>
              <a:srgbClr val="C9AE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4965192"/>
            <a:ext cx="2935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26864" y="5212080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future demand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65008" y="1965960"/>
            <a:ext cx="3483864" cy="3749040"/>
          </a:xfrm>
          <a:prstGeom prst="roundRect">
            <a:avLst>
              <a:gd name="adj" fmla="val 21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9328" y="219456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9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8339328" y="3017520"/>
            <a:ext cx="2935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Ratings Data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39328" y="3749040"/>
            <a:ext cx="29352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5468"/>
                </a:solidFill>
              </a:rPr>
              <a:t>1,048,575 records · 11,578 active users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5468"/>
                </a:solidFill>
              </a:rPr>
              <a:t>8,013 titles across 16 genres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339328" y="4846320"/>
            <a:ext cx="2935224" cy="0"/>
          </a:xfrm>
          <a:prstGeom prst="line">
            <a:avLst/>
          </a:prstGeom>
          <a:noFill/>
          <a:ln w="9525">
            <a:solidFill>
              <a:srgbClr val="C9AE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39328" y="4965192"/>
            <a:ext cx="2935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39328" y="5212080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content recommendation engine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presented below are derived directly from these three datasets.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91272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JAWWY TV   ·   DATA 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08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Watch Hours Show a Sustained Decline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5159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sustained decline in daily watch hours signals broader user disengagement — total daily watch hours across 86 business days, Jan–Apr 2018.</a:t>
            </a:r>
            <a:endParaRPr lang="en-US" sz="1350" dirty="0"/>
          </a:p>
        </p:txBody>
      </p:sp>
      <p:pic>
        <p:nvPicPr>
          <p:cNvPr id="7" name="Image 0" descr="/home/claude/redesign/charts/watch_decline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7772400" cy="3630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41080" y="1874520"/>
            <a:ext cx="2907792" cy="1051560"/>
          </a:xfrm>
          <a:prstGeom prst="roundRect">
            <a:avLst>
              <a:gd name="adj" fmla="val 782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42248" y="2011680"/>
            <a:ext cx="2505456" cy="4416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883 hrs/day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842248" y="2421331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average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842248" y="2677363"/>
            <a:ext cx="2505456" cy="2487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30 days of the dataset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41080" y="3035808"/>
            <a:ext cx="2907792" cy="1051560"/>
          </a:xfrm>
          <a:prstGeom prst="roundRect">
            <a:avLst>
              <a:gd name="adj" fmla="val 782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42248" y="3172968"/>
            <a:ext cx="2505456" cy="4416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696 hrs/day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842248" y="3582619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average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842248" y="3838651"/>
            <a:ext cx="2505456" cy="2487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30 days of the dataset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641080" y="4197096"/>
            <a:ext cx="2907792" cy="1051560"/>
          </a:xfrm>
          <a:prstGeom prst="roundRect">
            <a:avLst>
              <a:gd name="adj" fmla="val 782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42248" y="4334256"/>
            <a:ext cx="2505456" cy="4416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− 21%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842248" y="4743907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over 4 months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842248" y="4999939"/>
            <a:ext cx="2505456" cy="2487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average vs. April average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" y="5623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daily watch-hours dataset, 86 business days.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FINDINGS —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91272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JAWWY TV   ·   DATA 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08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Drive Far More Engagement Than Movies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5159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attract roughly one-third the viewership of movies, yet each series viewer generates substantially higher watch time.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Watch Hours per User</a:t>
            </a:r>
            <a:endParaRPr lang="en-US" sz="1300" dirty="0"/>
          </a:p>
        </p:txBody>
      </p:sp>
      <p:pic>
        <p:nvPicPr>
          <p:cNvPr id="8" name="Image 0" descr="/home/claude/redesign/charts/movies_vs_series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0"/>
            <a:ext cx="6035040" cy="3429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49440" y="1965960"/>
            <a:ext cx="4599432" cy="1170432"/>
          </a:xfrm>
          <a:prstGeom prst="roundRect">
            <a:avLst>
              <a:gd name="adj" fmla="val 703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50608" y="2103120"/>
            <a:ext cx="4197096" cy="4915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3,901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150608" y="2574585"/>
            <a:ext cx="4197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watched series content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150608" y="2830617"/>
            <a:ext cx="4197096" cy="305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11,355 users for movies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949440" y="3246120"/>
            <a:ext cx="4599432" cy="1170432"/>
          </a:xfrm>
          <a:prstGeom prst="roundRect">
            <a:avLst>
              <a:gd name="adj" fmla="val 703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50608" y="3383280"/>
            <a:ext cx="4197096" cy="4915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255,098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150608" y="3854745"/>
            <a:ext cx="4197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watch hours for series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150608" y="4110777"/>
            <a:ext cx="4197096" cy="305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103,444 hours for movies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49440" y="4526280"/>
            <a:ext cx="4599432" cy="1170432"/>
          </a:xfrm>
          <a:prstGeom prst="roundRect">
            <a:avLst>
              <a:gd name="adj" fmla="val 703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50608" y="4663440"/>
            <a:ext cx="4197096" cy="4915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7.2×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7150608" y="5134905"/>
            <a:ext cx="4197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watch time per user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150608" y="5390937"/>
            <a:ext cx="4197096" cy="305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65.4 hrs vs. 9.1 hrs for movies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" y="5989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content generates substantially higher watch time per user than movies.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FINDINGS —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91272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JAWWY TV   ·   DATA 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08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Movies Skew Toward Family and Animation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5159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titles and genres capture the most viewing time.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Five Most-Watched Movies (Thousand Hours)</a:t>
            </a:r>
            <a:endParaRPr lang="en-US" sz="1250" dirty="0"/>
          </a:p>
        </p:txBody>
      </p:sp>
      <p:pic>
        <p:nvPicPr>
          <p:cNvPr id="8" name="Image 0" descr="/home/claude/redesign/charts/top5_movies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94560"/>
            <a:ext cx="5760720" cy="3657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20840" y="1874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Records by Genre</a:t>
            </a:r>
            <a:endParaRPr lang="en-US" sz="1250" dirty="0"/>
          </a:p>
        </p:txBody>
      </p:sp>
      <p:pic>
        <p:nvPicPr>
          <p:cNvPr id="10" name="Image 1" descr="/home/claude/redesign/charts/genre_don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48840"/>
            <a:ext cx="4846320" cy="3703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60350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Boss Baby and Moana top the most-watched list; animation accounts for 38% of all viewing records.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FINDINGS —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91272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JAWWY TV   ·   DATA 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08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Playback Quality Gap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5159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viewers watching in high definition (HD) versus standard definition (SD), by program type.</a:t>
            </a:r>
            <a:endParaRPr lang="en-US" sz="1350" dirty="0"/>
          </a:p>
        </p:txBody>
      </p:sp>
      <p:pic>
        <p:nvPicPr>
          <p:cNvPr id="7" name="Image 0" descr="/home/claude/redesign/charts/hd_sd_se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920240"/>
            <a:ext cx="4114800" cy="4114800"/>
          </a:xfrm>
          <a:prstGeom prst="rect">
            <a:avLst/>
          </a:prstGeom>
        </p:spPr>
      </p:pic>
      <p:pic>
        <p:nvPicPr>
          <p:cNvPr id="8" name="Image 1" descr="/home/claude/redesign/charts/hd_sd_movi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4114800" cy="4114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603504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lean toward standard definition far more than movies — likely a bandwidth-saving pattern during long viewing sessions.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SOLUTION — TOOL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91272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JAWWY TV   ·   DATA 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08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Future Demand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5159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86-day time series feeds a seasonal SARIMA model that forecasts demand two months ahead.</a:t>
            </a:r>
            <a:endParaRPr lang="en-US" sz="1350" dirty="0"/>
          </a:p>
        </p:txBody>
      </p:sp>
      <p:pic>
        <p:nvPicPr>
          <p:cNvPr id="7" name="Image 0" descr="/home/claude/redesign/charts/sarima_forec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6858000" cy="3200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60920" y="17830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Decomposition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60920" y="207568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the underlying trend from seasonal variation and random noise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60920" y="2606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of 64 SARIMA Configurations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60920" y="289864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across candidate (p,d,q) × (P,D,Q,12) parameters, evaluated using AIC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360920" y="34290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Model: SARIMA(0,1,1) × (0,1,1,12)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360920" y="37216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= 909.6, the lowest score in the search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360920" y="425196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Forecast Horizon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360920" y="454456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confidence interval to support infrastructure and marketing planning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5257800"/>
            <a:ext cx="10908792" cy="777240"/>
          </a:xfrm>
          <a:prstGeom prst="roundRect">
            <a:avLst>
              <a:gd name="adj" fmla="val 7059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5257800"/>
            <a:ext cx="10451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 </a:t>
            </a:r>
            <a:pPr indent="0" marL="0">
              <a:buNone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the team to prepare infrastructure and schedule new releases ahead of anticipated demand peaks.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SOLUTION — TOOL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91272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JAWWY TV   ·   DATA 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08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Content Recommendation Engine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5159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collaborative filtering (K-Nearest Neighbors, cosine similarity) on 11,578 users' ratings.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4937760" cy="3520440"/>
          </a:xfrm>
          <a:prstGeom prst="roundRect">
            <a:avLst>
              <a:gd name="adj" fmla="val 207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286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who watched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92608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Moana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60120" y="35204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/ Animation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97764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identifies similar titles automatically, without manually defined rules, by learning directly from the viewing behavior of users with similar preferences.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19659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Recommendations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26364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2423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Trolls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29400" y="2880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Surf's Up: WaveMania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3337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Mermaid Princess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29400" y="3794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Boss Baby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29400" y="4251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Jetsons &amp; WWE: Robo-WrestleMania!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63640" y="484632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are ranked by similarity score, reflecting how closely each title aligns with the viewing patterns of Moana's audience.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608076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results are consistent with genre classifications, confirming the model's readiness for a home-screen "Recommended for You" feature.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SOLUTION — ACTION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91272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JAWWY TV   ·   DATA 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08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51592" y="6355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recommended actions that translate these findings into product decisions.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965960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Recommendation Engine  —  </a:t>
            </a:r>
            <a:pPr indent="0" marL="0">
              <a:buNone/>
            </a:pPr>
            <a:r>
              <a:rPr lang="en-US" sz="1400" dirty="0">
                <a:solidFill>
                  <a:srgbClr val="5B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validated model as a “Recommended for You” row on the home screen.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80720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807208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 the Forecast Model  —  </a:t>
            </a:r>
            <a:pPr indent="0" marL="0">
              <a:buNone/>
            </a:pPr>
            <a:r>
              <a:rPr lang="en-US" sz="1400" dirty="0">
                <a:solidFill>
                  <a:srgbClr val="5B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SARIMA output into infrastructure and content-release planning.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64845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3648456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Family &amp; Animation Placement  —  </a:t>
            </a:r>
            <a:pPr indent="0" marL="0">
              <a:buNone/>
            </a:pPr>
            <a:r>
              <a:rPr lang="en-US" sz="1400" dirty="0">
                <a:solidFill>
                  <a:srgbClr val="5B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accounts for 38% of viewing; allocate a dedicated home-screen section to this content category.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48970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4489704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HD Quality Gap in Series  —  </a:t>
            </a:r>
            <a:pPr indent="0" marL="0">
              <a:buNone/>
            </a:pPr>
            <a:r>
              <a:rPr lang="en-US" sz="1400" dirty="0">
                <a:solidFill>
                  <a:srgbClr val="5B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underlying cause of the higher standard-definition playback rate observed in series content.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3309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5330952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Series in New Content Investment  —  </a:t>
            </a:r>
            <a:pPr indent="0" marL="0">
              <a:buNone/>
            </a:pPr>
            <a:r>
              <a:rPr lang="en-US" sz="1400" dirty="0">
                <a:solidFill>
                  <a:srgbClr val="5B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generate 7.2× the per-user watch time of movies.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F00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design/charts/../logos/st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38912"/>
            <a:ext cx="749808" cy="365760"/>
          </a:xfrm>
          <a:prstGeom prst="rect">
            <a:avLst/>
          </a:prstGeom>
        </p:spPr>
      </p:pic>
      <p:pic>
        <p:nvPicPr>
          <p:cNvPr id="3" name="Image 1" descr="/home/claude/redesign/charts/../logos/misk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365760"/>
            <a:ext cx="886968" cy="51206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27432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640080" y="3611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stc Data Analyst Virtual Experience, in partnership with the Misk Foundation.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2026-08-16T16:07:55Z</dcterms:created>
  <dcterms:modified xsi:type="dcterms:W3CDTF">2026-08-16T16:07:55Z</dcterms:modified>
</cp:coreProperties>
</file>