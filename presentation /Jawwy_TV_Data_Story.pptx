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brief: one million viewing records from Jawwy TV, three datasets, two 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datasets, three questions: behaviour, demand, and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demand fell 21% across four months of business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Fewer series viewers, far more watch time each: 7.2x per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Family and animation titles lead the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 alone drives 38% of all viewing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Series skew to SD, movies to HD — likely bandwidth saving on long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SARIMA forecast, 60 days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search over 64 configurations; AIC-selected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collaborative filtering on 11,578 users; walk through the Moana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actions: two deployments, two content moves, one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828800"/>
          </a:xfrm>
          <a:prstGeom prst="rect">
            <a:avLst/>
          </a:prstGeom>
          <a:solidFill>
            <a:srgbClr val="4F00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685800"/>
            <a:ext cx="941586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08486" y="609600"/>
            <a:ext cx="9525" cy="6096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211" y="533400"/>
            <a:ext cx="1505248" cy="76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09700" y="4597896"/>
            <a:ext cx="1445895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84"/>
              </a:lnSpc>
              <a:buNone/>
            </a:pPr>
            <a:r>
              <a:rPr lang="en-US" sz="5400" b="1" spc="-81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Jawwy TV Viewership Data Analysis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1409700" y="5667673"/>
            <a:ext cx="1157668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million viewing records reveal how users engage — and where the platform can grow.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9" name="Text 5"/>
          <p:cNvSpPr/>
          <p:nvPr/>
        </p:nvSpPr>
        <p:spPr>
          <a:xfrm>
            <a:off x="1409700" y="9486900"/>
            <a:ext cx="86750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stc Data Analyst Virtual Experience — in partnership with the Misk Foundation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· CONTEXT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Datasets, One Analysis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165330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datasets from the Jawwy TV platform, covering March 2017 – April 2018, each addressing a distinct analytical objective.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409700" y="4019352"/>
            <a:ext cx="4749800" cy="28575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4314627"/>
            <a:ext cx="5224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09700" y="4771827"/>
            <a:ext cx="5224780" cy="454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Detailed Interaction Data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409700" y="5454750"/>
            <a:ext cx="5224780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1,048,575 viewing records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409700" y="5928122"/>
            <a:ext cx="4892294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columns including duration, HD quality, and genre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409700" y="7065368"/>
            <a:ext cx="5224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00A8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09700" y="7446368"/>
            <a:ext cx="489229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Understand viewing behaviour and playback quality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769100" y="4019352"/>
            <a:ext cx="4749800" cy="28575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14" name="Text 11"/>
          <p:cNvSpPr/>
          <p:nvPr/>
        </p:nvSpPr>
        <p:spPr>
          <a:xfrm>
            <a:off x="6769100" y="4314627"/>
            <a:ext cx="5224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69100" y="4771827"/>
            <a:ext cx="5224780" cy="454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Time Series</a:t>
            </a:r>
            <a:endParaRPr lang="en-US" sz="2850" dirty="0"/>
          </a:p>
        </p:txBody>
      </p:sp>
      <p:sp>
        <p:nvSpPr>
          <p:cNvPr id="16" name="Text 13"/>
          <p:cNvSpPr/>
          <p:nvPr/>
        </p:nvSpPr>
        <p:spPr>
          <a:xfrm>
            <a:off x="6769100" y="5454750"/>
            <a:ext cx="5224780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86 business days (Jan – Apr 2018)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769100" y="5928122"/>
            <a:ext cx="4892294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watch hours per day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6769100" y="7065368"/>
            <a:ext cx="5224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00A8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69100" y="7446368"/>
            <a:ext cx="489229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Forecast future demand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2128500" y="4019352"/>
            <a:ext cx="4749800" cy="28575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21" name="Text 18"/>
          <p:cNvSpPr/>
          <p:nvPr/>
        </p:nvSpPr>
        <p:spPr>
          <a:xfrm>
            <a:off x="12128500" y="4314627"/>
            <a:ext cx="5224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28500" y="4771827"/>
            <a:ext cx="5224780" cy="454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Ratings Data</a:t>
            </a:r>
            <a:endParaRPr lang="en-US" sz="2850" dirty="0"/>
          </a:p>
        </p:txBody>
      </p:sp>
      <p:sp>
        <p:nvSpPr>
          <p:cNvPr id="23" name="Text 20"/>
          <p:cNvSpPr/>
          <p:nvPr/>
        </p:nvSpPr>
        <p:spPr>
          <a:xfrm>
            <a:off x="12128500" y="5454750"/>
            <a:ext cx="5224780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1,048,575 records · 11,578 active users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2128500" y="5928122"/>
            <a:ext cx="4892294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8,013 titles across 16 genres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2128500" y="7065368"/>
            <a:ext cx="5224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00A8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2128500" y="7446368"/>
            <a:ext cx="489229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a content recommendation engine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8" name="Text 25"/>
          <p:cNvSpPr/>
          <p:nvPr/>
        </p:nvSpPr>
        <p:spPr>
          <a:xfrm>
            <a:off x="1409700" y="9486900"/>
            <a:ext cx="76172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figures in this deck are derived directly from these three datasets.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306305" y="9486900"/>
            <a:ext cx="648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· THE PROBLEM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Watch Hours Show a Sustained Decline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99210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daily watch hours across 86 business days, January – April 2018.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655" b="-8655"/>
          <a:stretch/>
        </p:blipFill>
        <p:spPr>
          <a:xfrm>
            <a:off x="1409700" y="3162300"/>
            <a:ext cx="10706100" cy="5861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77800" y="3522663"/>
            <a:ext cx="4400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883 hrs/day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12877800" y="4208463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January average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2877800" y="4594225"/>
            <a:ext cx="4400550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30 days of the dataset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2877800" y="5348585"/>
            <a:ext cx="4400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696 hrs/day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12877800" y="6034385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April average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2877800" y="6420148"/>
            <a:ext cx="4400550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30 days of the dataset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2877800" y="7174508"/>
            <a:ext cx="4000500" cy="2540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14" name="Text 10"/>
          <p:cNvSpPr/>
          <p:nvPr/>
        </p:nvSpPr>
        <p:spPr>
          <a:xfrm>
            <a:off x="12877800" y="7504708"/>
            <a:ext cx="44005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5400" b="1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−21%</a:t>
            </a:r>
            <a:endParaRPr lang="en-US" sz="5400" dirty="0"/>
          </a:p>
        </p:txBody>
      </p:sp>
      <p:sp>
        <p:nvSpPr>
          <p:cNvPr id="15" name="Text 11"/>
          <p:cNvSpPr/>
          <p:nvPr/>
        </p:nvSpPr>
        <p:spPr>
          <a:xfrm>
            <a:off x="12877800" y="8342908"/>
            <a:ext cx="44005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decline over four months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7" name="Text 13"/>
          <p:cNvSpPr/>
          <p:nvPr/>
        </p:nvSpPr>
        <p:spPr>
          <a:xfrm>
            <a:off x="1409700" y="9486900"/>
            <a:ext cx="59405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daily watch-hours dataset, 86 business days.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306305" y="9486900"/>
            <a:ext cx="648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12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THE FINDINGS — 1 OF 4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Series Drive Far More Engagement Than Movies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165330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Series attract roughly one-third the viewership of movies, yet each series viewer generates substantially higher watch time.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09700" y="3162300"/>
            <a:ext cx="7543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 WATCH HOURS PER USER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192536" y="7469188"/>
            <a:ext cx="6059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9.1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409700" y="8002588"/>
            <a:ext cx="2095500" cy="514350"/>
          </a:xfrm>
          <a:prstGeom prst="rect">
            <a:avLst/>
          </a:prstGeom>
          <a:solidFill>
            <a:srgbClr val="C9A8DE"/>
          </a:solidFill>
          <a:ln/>
        </p:spPr>
      </p:sp>
      <p:sp>
        <p:nvSpPr>
          <p:cNvPr id="9" name="Text 6"/>
          <p:cNvSpPr/>
          <p:nvPr/>
        </p:nvSpPr>
        <p:spPr>
          <a:xfrm>
            <a:off x="5325170" y="4287838"/>
            <a:ext cx="8177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65.4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648200" y="4821238"/>
            <a:ext cx="2095500" cy="3695700"/>
          </a:xfrm>
          <a:prstGeom prst="rect">
            <a:avLst/>
          </a:prstGeom>
          <a:solidFill>
            <a:srgbClr val="00C08B"/>
          </a:solidFill>
          <a:ln/>
        </p:spPr>
      </p:sp>
      <p:sp>
        <p:nvSpPr>
          <p:cNvPr id="11" name="Shape 8"/>
          <p:cNvSpPr/>
          <p:nvPr/>
        </p:nvSpPr>
        <p:spPr>
          <a:xfrm>
            <a:off x="1409700" y="8516938"/>
            <a:ext cx="68580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2" name="Text 9"/>
          <p:cNvSpPr/>
          <p:nvPr/>
        </p:nvSpPr>
        <p:spPr>
          <a:xfrm>
            <a:off x="1304925" y="8713788"/>
            <a:ext cx="23050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795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Movies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4543425" y="8713788"/>
            <a:ext cx="23050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795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Series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029700" y="3522663"/>
            <a:ext cx="86334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3,901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9029700" y="4208463"/>
            <a:ext cx="86334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watched series content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029700" y="4594225"/>
            <a:ext cx="8633460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vs. 11,355 users for movies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029700" y="5348585"/>
            <a:ext cx="86334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255,098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9029700" y="6034385"/>
            <a:ext cx="86334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watch hours for series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029700" y="6420148"/>
            <a:ext cx="8633460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vs. 103,444 hours for movies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029700" y="7174508"/>
            <a:ext cx="7848600" cy="2540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21" name="Text 18"/>
          <p:cNvSpPr/>
          <p:nvPr/>
        </p:nvSpPr>
        <p:spPr>
          <a:xfrm>
            <a:off x="9029700" y="7504708"/>
            <a:ext cx="86334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5400" b="1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7.2×</a:t>
            </a:r>
            <a:endParaRPr lang="en-US" sz="5400" dirty="0"/>
          </a:p>
        </p:txBody>
      </p:sp>
      <p:sp>
        <p:nvSpPr>
          <p:cNvPr id="22" name="Text 19"/>
          <p:cNvSpPr/>
          <p:nvPr/>
        </p:nvSpPr>
        <p:spPr>
          <a:xfrm>
            <a:off x="9029700" y="8342908"/>
            <a:ext cx="86334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more watch time per user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4" name="Text 21"/>
          <p:cNvSpPr/>
          <p:nvPr/>
        </p:nvSpPr>
        <p:spPr>
          <a:xfrm>
            <a:off x="1409700" y="9486900"/>
            <a:ext cx="90155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Episodic content generates substantially higher watch time per user than movies.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306305" y="9486900"/>
            <a:ext cx="648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THE FINDINGS — 2 OF 4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Movies Skew Toward Family and Animation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99210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five most-watched movies, in thousand hours of viewing time.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09700" y="3565525"/>
            <a:ext cx="544830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Boss Baby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19900" y="3443585"/>
            <a:ext cx="10058400" cy="60960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8" name="Text 5"/>
          <p:cNvSpPr/>
          <p:nvPr/>
        </p:nvSpPr>
        <p:spPr>
          <a:xfrm>
            <a:off x="6518148" y="3443585"/>
            <a:ext cx="101315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3.0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409700" y="4737695"/>
            <a:ext cx="544830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Amazing Spider-Man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819900" y="4615755"/>
            <a:ext cx="6739037" cy="60960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11" name="Text 8"/>
          <p:cNvSpPr/>
          <p:nvPr/>
        </p:nvSpPr>
        <p:spPr>
          <a:xfrm>
            <a:off x="6617729" y="4615755"/>
            <a:ext cx="67126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2.0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409700" y="5909866"/>
            <a:ext cx="544830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Expendables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819900" y="5787926"/>
            <a:ext cx="6638529" cy="60960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14" name="Text 11"/>
          <p:cNvSpPr/>
          <p:nvPr/>
        </p:nvSpPr>
        <p:spPr>
          <a:xfrm>
            <a:off x="6620744" y="5787926"/>
            <a:ext cx="660908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2.0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409700" y="7082135"/>
            <a:ext cx="544830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Moana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6819900" y="6960196"/>
            <a:ext cx="5733256" cy="60960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17" name="Text 14"/>
          <p:cNvSpPr/>
          <p:nvPr/>
        </p:nvSpPr>
        <p:spPr>
          <a:xfrm>
            <a:off x="6647902" y="6960196"/>
            <a:ext cx="567665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1.7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409700" y="8254305"/>
            <a:ext cx="544830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Trolls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6819900" y="8132366"/>
            <a:ext cx="5330925" cy="60960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20" name="Text 17"/>
          <p:cNvSpPr/>
          <p:nvPr/>
        </p:nvSpPr>
        <p:spPr>
          <a:xfrm>
            <a:off x="6659972" y="8132366"/>
            <a:ext cx="52622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1.6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2" name="Text 19"/>
          <p:cNvSpPr/>
          <p:nvPr/>
        </p:nvSpPr>
        <p:spPr>
          <a:xfrm>
            <a:off x="1409700" y="9486900"/>
            <a:ext cx="49626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Boss Baby and Moana lead the ranking.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306305" y="9486900"/>
            <a:ext cx="648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12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THE FINDINGS — 3 OF 4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Animation Drives Most of the Viewing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99210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 of all viewing records by genre.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409700" y="4187825"/>
            <a:ext cx="3810000" cy="3810000"/>
          </a:xfrm>
          <a:prstGeom prst="ellipse">
            <a:avLst/>
          </a:prstGeom>
          <a:solidFill>
            <a:srgbClr val="4F008C"/>
          </a:solidFill>
          <a:ln/>
        </p:spPr>
      </p:sp>
      <p:sp>
        <p:nvSpPr>
          <p:cNvPr id="7" name="Shape 4"/>
          <p:cNvSpPr/>
          <p:nvPr/>
        </p:nvSpPr>
        <p:spPr>
          <a:xfrm>
            <a:off x="2266950" y="5045075"/>
            <a:ext cx="2095500" cy="20955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6553200" y="4485084"/>
            <a:ext cx="228600" cy="22860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9" name="Text 6"/>
          <p:cNvSpPr/>
          <p:nvPr/>
        </p:nvSpPr>
        <p:spPr>
          <a:xfrm>
            <a:off x="7048500" y="4416524"/>
            <a:ext cx="6034495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Animation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801105" y="4416524"/>
            <a:ext cx="686296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38%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53200" y="5231805"/>
            <a:ext cx="228600" cy="228600"/>
          </a:xfrm>
          <a:prstGeom prst="rect">
            <a:avLst/>
          </a:prstGeom>
          <a:solidFill>
            <a:srgbClr val="00C08B"/>
          </a:solidFill>
          <a:ln/>
        </p:spPr>
      </p:sp>
      <p:sp>
        <p:nvSpPr>
          <p:cNvPr id="12" name="Text 9"/>
          <p:cNvSpPr/>
          <p:nvPr/>
        </p:nvSpPr>
        <p:spPr>
          <a:xfrm>
            <a:off x="7048500" y="5163245"/>
            <a:ext cx="6034495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801105" y="5163245"/>
            <a:ext cx="686296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17%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53200" y="5978525"/>
            <a:ext cx="228600" cy="228600"/>
          </a:xfrm>
          <a:prstGeom prst="rect">
            <a:avLst/>
          </a:prstGeom>
          <a:solidFill>
            <a:srgbClr val="2E0050"/>
          </a:solidFill>
          <a:ln/>
        </p:spPr>
      </p:sp>
      <p:sp>
        <p:nvSpPr>
          <p:cNvPr id="15" name="Text 12"/>
          <p:cNvSpPr/>
          <p:nvPr/>
        </p:nvSpPr>
        <p:spPr>
          <a:xfrm>
            <a:off x="7048500" y="5909965"/>
            <a:ext cx="6034495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Drama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2801105" y="5909965"/>
            <a:ext cx="686296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15%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553200" y="6725245"/>
            <a:ext cx="228600" cy="228600"/>
          </a:xfrm>
          <a:prstGeom prst="rect">
            <a:avLst/>
          </a:prstGeom>
          <a:solidFill>
            <a:srgbClr val="C9A8DE"/>
          </a:solidFill>
          <a:ln/>
        </p:spPr>
      </p:sp>
      <p:sp>
        <p:nvSpPr>
          <p:cNvPr id="18" name="Text 15"/>
          <p:cNvSpPr/>
          <p:nvPr/>
        </p:nvSpPr>
        <p:spPr>
          <a:xfrm>
            <a:off x="7048500" y="6656686"/>
            <a:ext cx="6034495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Comedy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2801105" y="6656686"/>
            <a:ext cx="686296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13%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553200" y="7471966"/>
            <a:ext cx="228600" cy="228600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1" name="Text 18"/>
          <p:cNvSpPr/>
          <p:nvPr/>
        </p:nvSpPr>
        <p:spPr>
          <a:xfrm>
            <a:off x="7048500" y="7403406"/>
            <a:ext cx="6034495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Other genres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2801105" y="7403406"/>
            <a:ext cx="686296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17%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4" name="Text 21"/>
          <p:cNvSpPr/>
          <p:nvPr/>
        </p:nvSpPr>
        <p:spPr>
          <a:xfrm>
            <a:off x="1409700" y="9486900"/>
            <a:ext cx="56187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Animation accounts for 38% of all viewing records.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306305" y="9486900"/>
            <a:ext cx="648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12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THE FINDINGS — 4 OF 4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Playback Quality Gap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99210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 of viewers watching in high definition (HD) versus standard definition (SD), by program type.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312888" y="4040684"/>
            <a:ext cx="2776756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Series / Episodes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241550" y="4787404"/>
            <a:ext cx="2667000" cy="26670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8" name="Shape 5"/>
          <p:cNvSpPr/>
          <p:nvPr/>
        </p:nvSpPr>
        <p:spPr>
          <a:xfrm>
            <a:off x="2765425" y="5311279"/>
            <a:ext cx="1619250" cy="16192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117453" y="5739904"/>
            <a:ext cx="9912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3600" b="1" dirty="0">
                <a:solidFill>
                  <a:srgbClr val="00A8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44%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409950" y="6273304"/>
            <a:ext cx="406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280841" y="7835404"/>
            <a:ext cx="284726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56% standard definition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998619" y="4040684"/>
            <a:ext cx="1109563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Movies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181850" y="4787404"/>
            <a:ext cx="2667000" cy="26670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4" name="Shape 11"/>
          <p:cNvSpPr/>
          <p:nvPr/>
        </p:nvSpPr>
        <p:spPr>
          <a:xfrm>
            <a:off x="7705725" y="5311279"/>
            <a:ext cx="1619250" cy="16192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057754" y="5739904"/>
            <a:ext cx="9912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3600" b="1" dirty="0">
                <a:solidFill>
                  <a:srgbClr val="00A8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64%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350250" y="6273304"/>
            <a:ext cx="406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221141" y="7835404"/>
            <a:ext cx="284726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36% standard definition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1442700" y="3162300"/>
            <a:ext cx="25400" cy="586105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19" name="Text 16"/>
          <p:cNvSpPr/>
          <p:nvPr/>
        </p:nvSpPr>
        <p:spPr>
          <a:xfrm>
            <a:off x="11925300" y="4991894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SUGGESTS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925300" y="5487194"/>
            <a:ext cx="5101590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240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Series lean toward standard definition far more than movies — likely a bandwidth-saving pattern during long viewing sessions.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2" name="Text 19"/>
          <p:cNvSpPr/>
          <p:nvPr/>
        </p:nvSpPr>
        <p:spPr>
          <a:xfrm>
            <a:off x="1409700" y="9486900"/>
            <a:ext cx="82600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 mix measured across all viewing records in the interaction dataset.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306305" y="9486900"/>
            <a:ext cx="648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THE SOLUTION — TOOL 1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Forecasting Future Demand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99210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seasonal SARIMA model projects daily watch hours two months beyond the dataset.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11769" r="-11769" t="0" b="0"/>
          <a:stretch/>
        </p:blipFill>
        <p:spPr>
          <a:xfrm>
            <a:off x="1409700" y="3162300"/>
            <a:ext cx="15468600" cy="58610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8" name="Text 4"/>
          <p:cNvSpPr/>
          <p:nvPr/>
        </p:nvSpPr>
        <p:spPr>
          <a:xfrm>
            <a:off x="1409700" y="9486900"/>
            <a:ext cx="60108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60-day horizon with a confidence interval for planning.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6306305" y="9486900"/>
            <a:ext cx="648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12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THE SOLUTION — TOOL 1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the Model Was Built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99210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decomposition to a single AIC-selected configuration.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09700" y="4610795"/>
            <a:ext cx="777430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series decomposition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409700" y="5151736"/>
            <a:ext cx="7774305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Separates trend from seasonal variation and noise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810750" y="4610795"/>
            <a:ext cx="777430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64 SARIMA configurations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9810750" y="5151736"/>
            <a:ext cx="7774305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Grid search across (p,d,q) × (P,D,Q,12), evaluated by AIC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409700" y="6287095"/>
            <a:ext cx="777430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Selected: SARIMA(0,1,1) × (0,1,1,12)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409700" y="6828036"/>
            <a:ext cx="7774305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AIC = 909.6, among the lowest scores in the search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10750" y="6287095"/>
            <a:ext cx="777430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60-day forecast horizon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9810750" y="6828036"/>
            <a:ext cx="7279577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Confidence interval supports infrastructure and marketing planning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5" name="Text 12"/>
          <p:cNvSpPr/>
          <p:nvPr/>
        </p:nvSpPr>
        <p:spPr>
          <a:xfrm>
            <a:off x="1409700" y="9486900"/>
            <a:ext cx="8191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value: plan infrastructure and releases ahead of demand peaks.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306305" y="9486900"/>
            <a:ext cx="648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12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THE SOLUTION — TOOL 2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Content Recommendation Engine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99210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Collaborative filtering (K-Nearest Neighbors, cosine similarity) on the ratings of 11,578 users.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409700" y="3162300"/>
            <a:ext cx="5715000" cy="5861050"/>
          </a:xfrm>
          <a:prstGeom prst="rect">
            <a:avLst/>
          </a:prstGeom>
          <a:solidFill>
            <a:srgbClr val="4F008C"/>
          </a:solidFill>
          <a:ln/>
        </p:spPr>
      </p:sp>
      <p:sp>
        <p:nvSpPr>
          <p:cNvPr id="7" name="Text 4"/>
          <p:cNvSpPr/>
          <p:nvPr/>
        </p:nvSpPr>
        <p:spPr>
          <a:xfrm>
            <a:off x="1866900" y="361950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C9A8D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EXAMPLE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66900" y="4191000"/>
            <a:ext cx="52806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E3D4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user who watched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66900" y="4663380"/>
            <a:ext cx="528066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Moana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866900" y="5493941"/>
            <a:ext cx="52806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00C0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Family / Animation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866900" y="7526139"/>
            <a:ext cx="4944618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E3D4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model identifies similar titles without manually defined rules, learning from the behaviour of users with similar preferences.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886700" y="3162300"/>
            <a:ext cx="98907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 RECOMMENDATIONS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886700" y="3581400"/>
            <a:ext cx="68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4" name="Text 11"/>
          <p:cNvSpPr/>
          <p:nvPr/>
        </p:nvSpPr>
        <p:spPr>
          <a:xfrm>
            <a:off x="7886700" y="3778250"/>
            <a:ext cx="762000" cy="760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C9A8D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572500" y="3581400"/>
            <a:ext cx="830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6" name="Text 13"/>
          <p:cNvSpPr/>
          <p:nvPr/>
        </p:nvSpPr>
        <p:spPr>
          <a:xfrm>
            <a:off x="8572500" y="3778250"/>
            <a:ext cx="8554974" cy="760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Trolls</a:t>
            </a:r>
            <a:endParaRPr lang="en-US" sz="2550" dirty="0"/>
          </a:p>
        </p:txBody>
      </p:sp>
      <p:sp>
        <p:nvSpPr>
          <p:cNvPr id="17" name="Shape 14"/>
          <p:cNvSpPr/>
          <p:nvPr/>
        </p:nvSpPr>
        <p:spPr>
          <a:xfrm>
            <a:off x="7886700" y="4500563"/>
            <a:ext cx="68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8" name="Text 15"/>
          <p:cNvSpPr/>
          <p:nvPr/>
        </p:nvSpPr>
        <p:spPr>
          <a:xfrm>
            <a:off x="7886700" y="4697413"/>
            <a:ext cx="762000" cy="76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C9A8D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572500" y="4500563"/>
            <a:ext cx="830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0" name="Text 17"/>
          <p:cNvSpPr/>
          <p:nvPr/>
        </p:nvSpPr>
        <p:spPr>
          <a:xfrm>
            <a:off x="8572500" y="4697413"/>
            <a:ext cx="8554974" cy="76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Surf's Up: WaveMania</a:t>
            </a:r>
            <a:endParaRPr lang="en-US" sz="2550" dirty="0"/>
          </a:p>
        </p:txBody>
      </p:sp>
      <p:sp>
        <p:nvSpPr>
          <p:cNvPr id="21" name="Shape 18"/>
          <p:cNvSpPr/>
          <p:nvPr/>
        </p:nvSpPr>
        <p:spPr>
          <a:xfrm>
            <a:off x="7886700" y="5419824"/>
            <a:ext cx="68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2" name="Text 19"/>
          <p:cNvSpPr/>
          <p:nvPr/>
        </p:nvSpPr>
        <p:spPr>
          <a:xfrm>
            <a:off x="7886700" y="5616674"/>
            <a:ext cx="762000" cy="76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C9A8D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8572500" y="5419824"/>
            <a:ext cx="830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4" name="Text 21"/>
          <p:cNvSpPr/>
          <p:nvPr/>
        </p:nvSpPr>
        <p:spPr>
          <a:xfrm>
            <a:off x="8572500" y="5616674"/>
            <a:ext cx="8554974" cy="76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Mermaid Princess</a:t>
            </a:r>
            <a:endParaRPr lang="en-US" sz="2550" dirty="0"/>
          </a:p>
        </p:txBody>
      </p:sp>
      <p:sp>
        <p:nvSpPr>
          <p:cNvPr id="25" name="Shape 22"/>
          <p:cNvSpPr/>
          <p:nvPr/>
        </p:nvSpPr>
        <p:spPr>
          <a:xfrm>
            <a:off x="7886700" y="6339086"/>
            <a:ext cx="68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6" name="Text 23"/>
          <p:cNvSpPr/>
          <p:nvPr/>
        </p:nvSpPr>
        <p:spPr>
          <a:xfrm>
            <a:off x="7886700" y="6535936"/>
            <a:ext cx="762000" cy="76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C9A8D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8572500" y="6339086"/>
            <a:ext cx="830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8" name="Text 25"/>
          <p:cNvSpPr/>
          <p:nvPr/>
        </p:nvSpPr>
        <p:spPr>
          <a:xfrm>
            <a:off x="8572500" y="6535936"/>
            <a:ext cx="8554974" cy="76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Boss Baby</a:t>
            </a:r>
            <a:endParaRPr lang="en-US" sz="2550" dirty="0"/>
          </a:p>
        </p:txBody>
      </p:sp>
      <p:sp>
        <p:nvSpPr>
          <p:cNvPr id="29" name="Shape 26"/>
          <p:cNvSpPr/>
          <p:nvPr/>
        </p:nvSpPr>
        <p:spPr>
          <a:xfrm>
            <a:off x="7886700" y="7258348"/>
            <a:ext cx="68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30" name="Text 27"/>
          <p:cNvSpPr/>
          <p:nvPr/>
        </p:nvSpPr>
        <p:spPr>
          <a:xfrm>
            <a:off x="7886700" y="7455198"/>
            <a:ext cx="762000" cy="760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C9A8D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8572500" y="7258348"/>
            <a:ext cx="83058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32" name="Text 29"/>
          <p:cNvSpPr/>
          <p:nvPr/>
        </p:nvSpPr>
        <p:spPr>
          <a:xfrm>
            <a:off x="8572500" y="7455198"/>
            <a:ext cx="8554974" cy="760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Jetsons &amp; WWE: Robo-WrestleMania!</a:t>
            </a:r>
            <a:endParaRPr lang="en-US" sz="2550" dirty="0"/>
          </a:p>
        </p:txBody>
      </p:sp>
      <p:sp>
        <p:nvSpPr>
          <p:cNvPr id="33" name="Text 30"/>
          <p:cNvSpPr/>
          <p:nvPr/>
        </p:nvSpPr>
        <p:spPr>
          <a:xfrm>
            <a:off x="7886700" y="8406210"/>
            <a:ext cx="9261348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Ranked by similarity score — how closely each title aligns with the viewing patterns of Moana's audience.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35" name="Text 32"/>
          <p:cNvSpPr/>
          <p:nvPr/>
        </p:nvSpPr>
        <p:spPr>
          <a:xfrm>
            <a:off x="1409700" y="9486900"/>
            <a:ext cx="87214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 confirm readiness for a “Recommended for You” home-screen feature.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6179205" y="9486900"/>
            <a:ext cx="7752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12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678" y="685800"/>
            <a:ext cx="78462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9700" y="762000"/>
            <a:ext cx="17015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THE SOLUTION — ACTION PLAN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09700" y="1219200"/>
            <a:ext cx="170154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58"/>
              </a:lnSpc>
              <a:buNone/>
            </a:pPr>
            <a:r>
              <a:rPr lang="en-US" sz="4200" b="1" spc="-42" kern="0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Recommended Actions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409700" y="1996380"/>
            <a:ext cx="1299210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actions drawn directly from the findings above.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409700" y="3162300"/>
            <a:ext cx="8382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3435350"/>
            <a:ext cx="914400" cy="9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b="1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2552700" y="3162300"/>
            <a:ext cx="59055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9" name="Text 6"/>
          <p:cNvSpPr/>
          <p:nvPr/>
        </p:nvSpPr>
        <p:spPr>
          <a:xfrm>
            <a:off x="2552700" y="3435350"/>
            <a:ext cx="6082665" cy="9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the recommendation engine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763000" y="3162300"/>
            <a:ext cx="81153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1" name="Text 8"/>
          <p:cNvSpPr/>
          <p:nvPr/>
        </p:nvSpPr>
        <p:spPr>
          <a:xfrm>
            <a:off x="8763000" y="3435350"/>
            <a:ext cx="8358759" cy="9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Launch the validated model as a “Recommended for You” row on the home screen.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409700" y="4334470"/>
            <a:ext cx="8382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3" name="Text 10"/>
          <p:cNvSpPr/>
          <p:nvPr/>
        </p:nvSpPr>
        <p:spPr>
          <a:xfrm>
            <a:off x="1409700" y="4607520"/>
            <a:ext cx="914400" cy="9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b="1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2552700" y="4334470"/>
            <a:ext cx="59055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5" name="Text 12"/>
          <p:cNvSpPr/>
          <p:nvPr/>
        </p:nvSpPr>
        <p:spPr>
          <a:xfrm>
            <a:off x="2552700" y="4607520"/>
            <a:ext cx="6082665" cy="9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Operationalize the forecast model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8763000" y="4334470"/>
            <a:ext cx="81153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7" name="Text 14"/>
          <p:cNvSpPr/>
          <p:nvPr/>
        </p:nvSpPr>
        <p:spPr>
          <a:xfrm>
            <a:off x="8763000" y="4607520"/>
            <a:ext cx="8358759" cy="9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 SARIMA output into infrastructure and content-release planning.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409700" y="5506641"/>
            <a:ext cx="8382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19" name="Text 16"/>
          <p:cNvSpPr/>
          <p:nvPr/>
        </p:nvSpPr>
        <p:spPr>
          <a:xfrm>
            <a:off x="1409700" y="5779691"/>
            <a:ext cx="914400" cy="93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b="1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700" dirty="0"/>
          </a:p>
        </p:txBody>
      </p:sp>
      <p:sp>
        <p:nvSpPr>
          <p:cNvPr id="20" name="Shape 17"/>
          <p:cNvSpPr/>
          <p:nvPr/>
        </p:nvSpPr>
        <p:spPr>
          <a:xfrm>
            <a:off x="2552700" y="5506641"/>
            <a:ext cx="59055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1" name="Text 18"/>
          <p:cNvSpPr/>
          <p:nvPr/>
        </p:nvSpPr>
        <p:spPr>
          <a:xfrm>
            <a:off x="2552700" y="5779691"/>
            <a:ext cx="6082665" cy="93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Expand family &amp; animation placement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8763000" y="5506641"/>
            <a:ext cx="81153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3" name="Text 20"/>
          <p:cNvSpPr/>
          <p:nvPr/>
        </p:nvSpPr>
        <p:spPr>
          <a:xfrm>
            <a:off x="8763000" y="5779691"/>
            <a:ext cx="8358759" cy="93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Animation accounts for 38% of viewing; give it a dedicated home-screen section.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409700" y="6678910"/>
            <a:ext cx="8382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5" name="Text 22"/>
          <p:cNvSpPr/>
          <p:nvPr/>
        </p:nvSpPr>
        <p:spPr>
          <a:xfrm>
            <a:off x="1409700" y="6951960"/>
            <a:ext cx="914400" cy="9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b="1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2700" dirty="0"/>
          </a:p>
        </p:txBody>
      </p:sp>
      <p:sp>
        <p:nvSpPr>
          <p:cNvPr id="26" name="Shape 23"/>
          <p:cNvSpPr/>
          <p:nvPr/>
        </p:nvSpPr>
        <p:spPr>
          <a:xfrm>
            <a:off x="2552700" y="6678910"/>
            <a:ext cx="59055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7" name="Text 24"/>
          <p:cNvSpPr/>
          <p:nvPr/>
        </p:nvSpPr>
        <p:spPr>
          <a:xfrm>
            <a:off x="2552700" y="6951960"/>
            <a:ext cx="6082665" cy="9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Investigate the HD gap in series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8763000" y="6678910"/>
            <a:ext cx="81153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29" name="Text 26"/>
          <p:cNvSpPr/>
          <p:nvPr/>
        </p:nvSpPr>
        <p:spPr>
          <a:xfrm>
            <a:off x="8763000" y="6951960"/>
            <a:ext cx="8358759" cy="9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Determine the cause of the higher standard-definition playback rate in series.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1409700" y="7851081"/>
            <a:ext cx="8382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31" name="Text 28"/>
          <p:cNvSpPr/>
          <p:nvPr/>
        </p:nvSpPr>
        <p:spPr>
          <a:xfrm>
            <a:off x="1409700" y="8124131"/>
            <a:ext cx="914400" cy="93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b="1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2700" dirty="0"/>
          </a:p>
        </p:txBody>
      </p:sp>
      <p:sp>
        <p:nvSpPr>
          <p:cNvPr id="32" name="Shape 29"/>
          <p:cNvSpPr/>
          <p:nvPr/>
        </p:nvSpPr>
        <p:spPr>
          <a:xfrm>
            <a:off x="2552700" y="7851081"/>
            <a:ext cx="59055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33" name="Text 30"/>
          <p:cNvSpPr/>
          <p:nvPr/>
        </p:nvSpPr>
        <p:spPr>
          <a:xfrm>
            <a:off x="2552700" y="8124131"/>
            <a:ext cx="6082665" cy="93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2400" b="1" dirty="0">
                <a:solidFill>
                  <a:srgbClr val="2E00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Prioritize series in new investment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8763000" y="7851081"/>
            <a:ext cx="81153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35" name="Text 32"/>
          <p:cNvSpPr/>
          <p:nvPr/>
        </p:nvSpPr>
        <p:spPr>
          <a:xfrm>
            <a:off x="8763000" y="8124131"/>
            <a:ext cx="8358759" cy="93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Series generate 7.2× the per-user watch time of movies.</a:t>
            </a:r>
            <a:endParaRPr lang="en-US" sz="1950" dirty="0"/>
          </a:p>
        </p:txBody>
      </p:sp>
      <p:sp>
        <p:nvSpPr>
          <p:cNvPr id="36" name="Shape 33"/>
          <p:cNvSpPr/>
          <p:nvPr/>
        </p:nvSpPr>
        <p:spPr>
          <a:xfrm>
            <a:off x="1409700" y="9290050"/>
            <a:ext cx="15468600" cy="9525"/>
          </a:xfrm>
          <a:prstGeom prst="rect">
            <a:avLst/>
          </a:prstGeom>
          <a:solidFill>
            <a:srgbClr val="E6E2EA"/>
          </a:solidFill>
          <a:ln/>
        </p:spPr>
      </p:sp>
      <p:sp>
        <p:nvSpPr>
          <p:cNvPr id="37" name="Text 34"/>
          <p:cNvSpPr/>
          <p:nvPr/>
        </p:nvSpPr>
        <p:spPr>
          <a:xfrm>
            <a:off x="1409700" y="9486900"/>
            <a:ext cx="50463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Ordered by expected impact on engagement.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6196172" y="9486900"/>
            <a:ext cx="7583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12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828800"/>
          </a:xfrm>
          <a:prstGeom prst="rect">
            <a:avLst/>
          </a:prstGeom>
          <a:solidFill>
            <a:srgbClr val="4F00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685800"/>
            <a:ext cx="941586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08486" y="609600"/>
            <a:ext cx="9525" cy="6096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211" y="533400"/>
            <a:ext cx="1505248" cy="76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09700" y="4829671"/>
            <a:ext cx="17015460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84"/>
              </a:lnSpc>
              <a:buNone/>
            </a:pPr>
            <a:r>
              <a:rPr lang="en-US" sz="5400" b="1" spc="-81" kern="0" dirty="0">
                <a:solidFill>
                  <a:srgbClr val="4F00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1409700" y="5899448"/>
            <a:ext cx="1157668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for the stc Data Analyst Virtual Experience, in partnership with the Misk Foundation.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2026-08-23T01:02:21Z</dcterms:created>
  <dcterms:modified xsi:type="dcterms:W3CDTF">2026-08-23T01:02:21Z</dcterms:modified>
</cp:coreProperties>
</file>